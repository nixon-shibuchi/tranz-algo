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128016"/>
          </a:xfrm>
          <a:prstGeom prst="rect">
            <a:avLst/>
          </a:prstGeom>
          <a:solidFill>
            <a:srgbClr val="A8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365760"/>
            <a:ext cx="960120" cy="960120"/>
          </a:xfrm>
          <a:prstGeom prst="rect">
            <a:avLst/>
          </a:prstGeom>
        </p:spPr>
      </p:pic>
      <p:pic>
        <p:nvPicPr>
          <p:cNvPr id="5" name="Picture 4" descr="tranzalg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6576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Tranz-Algo</a:t>
            </a:r>
          </a:p>
          <a:p>
            <a:pPr algn="ctr">
              <a:spcBef>
                <a:spcPts val="1400"/>
              </a:spcBef>
            </a:pPr>
            <a:r>
              <a:rPr sz="2400" b="1">
                <a:solidFill>
                  <a:srgbClr val="FFFFFF"/>
                </a:solidFill>
                <a:latin typeface="Calibri"/>
              </a:rPr>
              <a:t>Explainable Landed-Cost Inventory Orchestration
for Import-Dependent SMEs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Nixon Shibuchi  ·  Musonda Katongo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2021437361  ·  2020583969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Final Year Project Presentation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University of Zambia  ·  School of Natural and Applied Sciences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Department of Computing and Informatics  ·  2026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https://github.com/Nixon-Shibuchi/Tranz-Algo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Team Roles and Responsibilities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Computer No.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Primary Role / Responsibilities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Nixon Shibuchi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2021437361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Implementation lead · costing engine · API · evaluation · docs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Musonda Katongo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2020583969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Co-design · literature review · UI / True Cost contribution · demo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02A38"/>
                </a:solidFill>
                <a:latin typeface="Calibri"/>
              </a:rPr>
              <a:t>Supervisor: [SUPERVISOR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Design &amp; technology: </a:t>
            </a:r>
            <a:r>
              <a:rPr sz="1800" b="0">
                <a:solidFill>
                  <a:srgbClr val="000000"/>
                </a:solidFill>
                <a:latin typeface="Calibri"/>
              </a:rPr>
              <a:t>discussed jointly before coding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Most implementation: </a:t>
            </a:r>
            <a:r>
              <a:rPr sz="1800" b="0">
                <a:solidFill>
                  <a:srgbClr val="000000"/>
                </a:solidFill>
                <a:latin typeface="Calibri"/>
              </a:rPr>
              <a:t>Nixon (including pending updates)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UI / True Cost workflow commit + literature review: </a:t>
            </a:r>
            <a:r>
              <a:rPr sz="1800" b="0">
                <a:solidFill>
                  <a:srgbClr val="000000"/>
                </a:solidFill>
                <a:latin typeface="Calibri"/>
              </a:rPr>
              <a:t>Musonda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Presentation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Background and Context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System Analysis and Design (architecture, data, algorithms)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Implementation / Development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Testing, Results and Evaluation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Discussion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Conclusion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System Demonstration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Background and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Import SMEs know invoices and clearing papers, yet struggle to recover per-item true cost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Shared freight, duty and VAT plus mixed foreign/local paperwork erase margins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FX movement can wipe cost-plus pricing after a selling price is 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Users: </a:t>
            </a:r>
            <a:r>
              <a:rPr sz="2000" b="0">
                <a:solidFill>
                  <a:srgbClr val="000000"/>
                </a:solidFill>
                <a:latin typeface="Calibri"/>
              </a:rPr>
              <a:t>retail administrators (desk workflow) — not till operators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Tranz-Algo: </a:t>
            </a:r>
            <a:r>
              <a:rPr sz="2000" b="0">
                <a:solidFill>
                  <a:srgbClr val="000000"/>
                </a:solidFill>
                <a:latin typeface="Calibri"/>
              </a:rPr>
              <a:t>landed cost → suggested retail → Cost history → batch stock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A353C"/>
                </a:solidFill>
                <a:latin typeface="Calibri"/>
              </a:rPr>
              <a:t>Three-tier: React SPA → FastAPI /api/v1 → PostgreSQL (SQLite fallback) · optional Frankfurter FX · JWT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867" y="1417320"/>
            <a:ext cx="7647959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Database / Data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A353C"/>
                </a:solidFill>
                <a:latin typeface="Calibri"/>
              </a:rPr>
              <a:t>UML-style entities · duty/VAT as paperwork totals on the batch · Cost history from ledger · Sale = stock-out only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383" y="1371600"/>
            <a:ext cx="5460927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7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Algorithms / Models / Technical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943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02A38"/>
                </a:solidFill>
                <a:latin typeface="Calibri"/>
              </a:rPr>
              <a:t>•  Auto FX: </a:t>
            </a:r>
            <a:r>
              <a:rPr sz="1700" b="0">
                <a:solidFill>
                  <a:srgbClr val="000000"/>
                </a:solidFill>
                <a:latin typeface="Calibri"/>
              </a:rPr>
              <a:t>foreign unit × exchange rate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02A38"/>
                </a:solidFill>
                <a:latin typeface="Calibri"/>
              </a:rPr>
              <a:t>•  Already-Local: </a:t>
            </a:r>
            <a:r>
              <a:rPr sz="1700" b="0">
                <a:solidFill>
                  <a:srgbClr val="000000"/>
                </a:solidFill>
                <a:latin typeface="Calibri"/>
              </a:rPr>
              <a:t>local unit product cost (no Fetch FX required)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Allocate shipping / duty / VAT by quantity or weight; compare methods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Suggested RP = Landed × (1 + margin)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Safety floor = Landed × 1.10 (live on True Cost adjust)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UI Auto FX starts at 20 (or last cache); Demo B check uses rate 27.50</a:t>
            </a:r>
          </a:p>
        </p:txBody>
      </p:sp>
      <p:pic>
        <p:nvPicPr>
          <p:cNvPr id="8" name="Picture 7" descr="dual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80160"/>
            <a:ext cx="5303520" cy="24801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Development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Operating system: </a:t>
            </a:r>
            <a:r>
              <a:rPr sz="1900" b="0">
                <a:solidFill>
                  <a:srgbClr val="000000"/>
                </a:solidFill>
                <a:latin typeface="Calibri"/>
              </a:rPr>
              <a:t>Windows 10 / 11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Languages: </a:t>
            </a:r>
            <a:r>
              <a:rPr sz="1900" b="0">
                <a:solidFill>
                  <a:srgbClr val="000000"/>
                </a:solidFill>
                <a:latin typeface="Calibri"/>
              </a:rPr>
              <a:t>Python 3, JavaScript (React)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Frameworks: </a:t>
            </a:r>
            <a:r>
              <a:rPr sz="1900" b="0">
                <a:solidFill>
                  <a:srgbClr val="000000"/>
                </a:solidFill>
                <a:latin typeface="Calibri"/>
              </a:rPr>
              <a:t>FastAPI, Vite/React, SQLAlchemy 2, Pydantic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Database: </a:t>
            </a:r>
            <a:r>
              <a:rPr sz="1900" b="0">
                <a:solidFill>
                  <a:srgbClr val="000000"/>
                </a:solidFill>
                <a:latin typeface="Calibri"/>
              </a:rPr>
              <a:t>PostgreSQL (primary), SQLite fallback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FX: </a:t>
            </a:r>
            <a:r>
              <a:rPr sz="1900" b="0">
                <a:solidFill>
                  <a:srgbClr val="000000"/>
                </a:solidFill>
                <a:latin typeface="Calibri"/>
              </a:rPr>
              <a:t>Frankfurter / open.er-api + cache / manual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Tools: </a:t>
            </a:r>
            <a:r>
              <a:rPr sz="1900" b="0">
                <a:solidFill>
                  <a:srgbClr val="000000"/>
                </a:solidFill>
                <a:latin typeface="Calibri"/>
              </a:rPr>
              <a:t>VS Code / Cursor, pytest, Git / GitHub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Repository: </a:t>
            </a:r>
            <a:r>
              <a:rPr sz="1900" b="0">
                <a:solidFill>
                  <a:srgbClr val="000000"/>
                </a:solidFill>
                <a:latin typeface="Calibri"/>
              </a:rPr>
              <a:t>https://github.com/Nixon-Shibuchi/Tranz-Algo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Run: </a:t>
            </a:r>
            <a:r>
              <a:rPr sz="1900" b="0">
                <a:solidFill>
                  <a:srgbClr val="000000"/>
                </a:solidFill>
                <a:latin typeface="Calibri"/>
              </a:rPr>
              <a:t>uvicorn :8000 · npm run dev :5173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9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System Components /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Auth: </a:t>
            </a:r>
            <a:r>
              <a:rPr sz="1900" b="0">
                <a:solidFill>
                  <a:srgbClr val="000000"/>
                </a:solidFill>
                <a:latin typeface="Calibri"/>
              </a:rPr>
              <a:t>JWT login / Create account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Products: </a:t>
            </a:r>
            <a:r>
              <a:rPr sz="1900" b="0">
                <a:solidFill>
                  <a:srgbClr val="000000"/>
                </a:solidFill>
                <a:latin typeface="Calibri"/>
              </a:rPr>
              <a:t>catalogue + CSV import (+ optional auto SKU)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Shipments: </a:t>
            </a:r>
            <a:r>
              <a:rPr sz="1900" b="0">
                <a:solidFill>
                  <a:srgbClr val="000000"/>
                </a:solidFill>
                <a:latin typeface="Calibri"/>
              </a:rPr>
              <a:t>dual modes, paperwork costs, CSV, Clear drafts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True Cost studio: </a:t>
            </a:r>
            <a:r>
              <a:rPr sz="1900" b="0">
                <a:solidFill>
                  <a:srgbClr val="000000"/>
                </a:solidFill>
                <a:latin typeface="Calibri"/>
              </a:rPr>
              <a:t>Lines → Allocate → Price → Commit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FX service: </a:t>
            </a:r>
            <a:r>
              <a:rPr sz="1900" b="0">
                <a:solidFill>
                  <a:srgbClr val="000000"/>
                </a:solidFill>
                <a:latin typeface="Calibri"/>
              </a:rPr>
              <a:t>Fetch / cache / starter 20 / manual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Stock board + Record sale (stock-out only — not POS)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Dashboard Start fresh + Cost history (When / What)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Key Implementation Details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React web admin instead of React Native — prioritise desk costing MVP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Strategy (modes/allocation) · Facade (commit) · Chain (FX providers)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CSV import drives Demo A/B: </a:t>
            </a:r>
            <a:r>
              <a:rPr sz="1800" b="0">
                <a:solidFill>
                  <a:srgbClr val="000000"/>
                </a:solidFill>
                <a:latin typeface="Calibri"/>
              </a:rPr>
              <a:t>SHP-DEMO-LOCAL-ZMW / SHP-DEMO-AUTO-FX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Security: </a:t>
            </a:r>
            <a:r>
              <a:rPr sz="1800" b="0">
                <a:solidFill>
                  <a:srgbClr val="000000"/>
                </a:solidFill>
                <a:latin typeface="Calibri"/>
              </a:rPr>
              <a:t>bcrypt · JWT Bearer · Pydantic validation</a:t>
            </a:r>
          </a:p>
        </p:txBody>
      </p:sp>
      <p:pic>
        <p:nvPicPr>
          <p:cNvPr id="8" name="Picture 7" descr="true_cost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848" y="3337560"/>
            <a:ext cx="746199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11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Challenges and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Mixed foreign/local paperwork → Dual cost modes at shipment create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React Native scope risk → Deliver React web admin; defer mobile companion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FX API downtime → Cache, starter rate 20, manual override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Opaque spreadsheets → Allocation comparator + Cost history When/What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Test Results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97280"/>
          <a:ext cx="11155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Already-Local Demo A vs expected spreadsheet costs (±0.01 ZMW)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TC-02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Auto FX Demo B vs expected costs (check rate 27.50)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Allocation compare qty vs weight (Demo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TC-04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Safety floor on True Cost adjust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CSV UI demo path (Scenario 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TC-06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Record sale stock-out (not POS)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Discussion of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Demo A/B costs matched our pre-calculated spreadsheet answers — formulas are correct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Dual modes address mixed paperwork — the original problem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Design, build and evaluate objectives were met for MVP scope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Vs existing work: </a:t>
            </a:r>
            <a:r>
              <a:rPr sz="2000" b="0">
                <a:solidFill>
                  <a:srgbClr val="000000"/>
                </a:solidFill>
                <a:latin typeface="Calibri"/>
              </a:rPr>
              <a:t>narrower than ERP, clearer than spreadsheets, not a POS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Key finding: </a:t>
            </a:r>
            <a:r>
              <a:rPr sz="2000" b="0">
                <a:solidFill>
                  <a:srgbClr val="000000"/>
                </a:solidFill>
                <a:latin typeface="Calibri"/>
              </a:rPr>
              <a:t>explainable batch costing can be accurate and usable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Does not legally assess customs duty/VAT — paperwork totals only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UI Auto FX starts at 20 (or last cache); Demo B number-check uses rate 27.50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Value-based allocation is stretch in the UI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No large-scale SME field trial yet — evaluation is spreadsheet checks + live demo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Tranz-Algo delivers explainable import true cost, suggested retail, Cost history and stock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Design was joint; implementation mostly Nixon with Musonda’s UI / True Cost contribution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Next: </a:t>
            </a:r>
            <a:r>
              <a:rPr sz="2000" b="0">
                <a:solidFill>
                  <a:srgbClr val="000000"/>
                </a:solidFill>
                <a:latin typeface="Calibri"/>
              </a:rPr>
              <a:t>optional mobile companion, cloud Postgres, usability study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Thank you — demonstration follows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54680"/>
            <a:ext cx="12191695" cy="109728"/>
          </a:xfrm>
          <a:prstGeom prst="rect">
            <a:avLst/>
          </a:prstGeom>
          <a:solidFill>
            <a:srgbClr val="A8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  <a:latin typeface="Calibri"/>
              </a:rPr>
              <a:t>Tranz-Algo  ·  University of Zambia  ·  2026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Calibri"/>
              </a:rPr>
              <a:t>https://github.com/Nixon-Shibuchi/Tranz-Algo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