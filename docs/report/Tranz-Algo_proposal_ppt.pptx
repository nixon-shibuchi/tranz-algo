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5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1302" autoAdjust="0"/>
    <p:restoredTop sz="94162" autoAdjust="0"/>
  </p:normalViewPr>
  <p:slideViewPr>
    <p:cSldViewPr snapToGrid="0">
      <p:cViewPr varScale="1">
        <p:scale>
          <a:sx n="91" d="100"/>
          <a:sy n="91" d="100"/>
        </p:scale>
        <p:origin x="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>
            <a:off x="1457640" y="-3227760"/>
            <a:ext cx="9691920" cy="83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653120" y="1900080"/>
            <a:ext cx="3173760" cy="68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5182560" y="449640"/>
            <a:ext cx="2308320" cy="424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9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Red Hat Mono"/>
                <a:ea typeface="Red Hat Mon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" name="Google Shape;50;p11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5049000" y="-297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3;p13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4323000">
            <a:off x="2675880" y="1282320"/>
            <a:ext cx="9691920" cy="83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21640" y="34653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521640" y="15714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522360" y="624600"/>
            <a:ext cx="7102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21640" y="25182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4627440" y="15714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4627440" y="25185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4627440" y="34653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title"/>
          </p:nvPr>
        </p:nvSpPr>
        <p:spPr>
          <a:xfrm>
            <a:off x="4627440" y="6246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9"/>
          <p:cNvSpPr>
            <a:spLocks noGrp="1"/>
          </p:cNvSpPr>
          <p:nvPr>
            <p:ph type="title"/>
          </p:nvPr>
        </p:nvSpPr>
        <p:spPr>
          <a:xfrm>
            <a:off x="228600" y="4352040"/>
            <a:ext cx="8686800" cy="54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17320" y="910080"/>
            <a:ext cx="5261760" cy="15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9" name="Google Shape;74;p14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6488600">
            <a:off x="5582160" y="-110340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6;p15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171360" y="-181368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228600" y="3276000"/>
            <a:ext cx="3710160" cy="16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228600" y="342000"/>
            <a:ext cx="3710160" cy="178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06680" y="0"/>
            <a:ext cx="48373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5" name="Google Shape;82;p16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2517600">
            <a:off x="3900960" y="-338508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4280" y="2702160"/>
            <a:ext cx="9298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1215000" y="1388520"/>
            <a:ext cx="9280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title"/>
          </p:nvPr>
        </p:nvSpPr>
        <p:spPr>
          <a:xfrm>
            <a:off x="1215360" y="4015440"/>
            <a:ext cx="9298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228600" y="34272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0" name="Google Shape;91;p17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1069400">
            <a:off x="5059440" y="98064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93;p18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6484200">
            <a:off x="2395800" y="-3969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94548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6945480" y="1609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4140000" y="160992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413928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title"/>
          </p:nvPr>
        </p:nvSpPr>
        <p:spPr>
          <a:xfrm>
            <a:off x="1332720" y="1609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title"/>
          </p:nvPr>
        </p:nvSpPr>
        <p:spPr>
          <a:xfrm>
            <a:off x="133272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416600" y="552600"/>
            <a:ext cx="6310080" cy="12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109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0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1416600" y="2969280"/>
            <a:ext cx="6310080" cy="12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109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0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112;p19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7479200">
            <a:off x="3828600" y="192384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163880" y="1130040"/>
            <a:ext cx="3577680" cy="67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Google Shape;116;p20"/>
          <p:cNvSpPr/>
          <p:nvPr/>
        </p:nvSpPr>
        <p:spPr>
          <a:xfrm>
            <a:off x="3034440" y="32011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4" name="Google Shape;117;p20"/>
          <p:cNvPicPr/>
          <p:nvPr/>
        </p:nvPicPr>
        <p:blipFill>
          <a:blip r:embed="rId4">
            <a:alphaModFix amt="66000"/>
          </a:blip>
          <a:srcRect l="16172" r="18707"/>
          <a:stretch/>
        </p:blipFill>
        <p:spPr>
          <a:xfrm rot="15349800">
            <a:off x="5539320" y="-90684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4;p3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402480" y="136980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256640" y="2401920"/>
            <a:ext cx="46584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1498320"/>
            <a:ext cx="3008880" cy="206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171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7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9;p21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15349800">
            <a:off x="-3836520" y="-313020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1;p22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15349800">
            <a:off x="1293120" y="76716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52" name="Google Shape;20;p4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4140800">
            <a:off x="6268320" y="-81360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4" name="Google Shape;27;p5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1069400">
            <a:off x="-3573360" y="90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8600" y="3441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6" name="Google Shape;30;p6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4048560" y="16668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61" name="Google Shape;35;p7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2840400" y="296388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7;p8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6267600">
            <a:off x="763200" y="-314352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65" name="Google Shape;43;p9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flipH="1">
            <a:off x="1806480" y="3231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1227240" y="3685320"/>
            <a:ext cx="2292480" cy="45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27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0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47816" y="634159"/>
            <a:ext cx="330389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ea typeface="Red Hat Mono"/>
                <a:cs typeface="Times New Roman" panose="02020603050405020304" pitchFamily="18" charset="0"/>
              </a:rPr>
              <a:t>Tranz-Algo</a:t>
            </a:r>
            <a:endParaRPr lang="fr-FR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847816" y="1335915"/>
            <a:ext cx="3646970" cy="19279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i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Intelligent inventory orchestration with algorithmic landed cost and price suggestion for international retail</a:t>
            </a:r>
            <a:endParaRPr lang="en-US" sz="2000" b="1" i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FD709-9C93-49E4-9393-9A290F1501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" b="6791"/>
          <a:stretch/>
        </p:blipFill>
        <p:spPr>
          <a:xfrm>
            <a:off x="5181480" y="0"/>
            <a:ext cx="3962520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0569C-D9C7-47B1-A32C-E0CCA912F2F5}"/>
              </a:ext>
            </a:extLst>
          </p:cNvPr>
          <p:cNvSpPr txBox="1"/>
          <p:nvPr/>
        </p:nvSpPr>
        <p:spPr>
          <a:xfrm>
            <a:off x="847816" y="3609834"/>
            <a:ext cx="396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members: Nixon Shibuchi,</a:t>
            </a:r>
          </a:p>
          <a:p>
            <a:r>
              <a:rPr lang="en-US" dirty="0">
                <a:solidFill>
                  <a:srgbClr val="0070C0"/>
                </a:solidFill>
              </a:rPr>
              <a:t>		Musonda Katongo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363862"/>
            <a:ext cx="371448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ea typeface="Red Hat Mono"/>
                <a:cs typeface="Times New Roman" panose="02020603050405020304" pitchFamily="18" charset="0"/>
              </a:rPr>
              <a:t>Introduction</a:t>
            </a:r>
            <a:endParaRPr lang="fr-FR" sz="36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0" y="1083673"/>
            <a:ext cx="4906850" cy="16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Tranz-Algo addresses the </a:t>
            </a:r>
            <a:r>
              <a:rPr lang="en-US" sz="2000" i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True Cost</a:t>
            </a: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problem for SMEs importing goods, eliminating hidden losses from shipping, taxes, and currency shifts.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The system provides a data-driven platform to ensure sustainable margins through automated landed-cost calculations and algorithmic price suggestions.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208;p30" title="young-woman-wearing-white-clothes.jpg"/>
          <p:cNvSpPr/>
          <p:nvPr/>
        </p:nvSpPr>
        <p:spPr>
          <a:xfrm>
            <a:off x="4906850" y="442711"/>
            <a:ext cx="4237149" cy="4700789"/>
          </a:xfrm>
          <a:prstGeom prst="roundRect">
            <a:avLst>
              <a:gd name="adj" fmla="val 19573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476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76280" y="1428840"/>
            <a:ext cx="3619080" cy="2666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Project Aims and Objectives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2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2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image69bc20852f544" descr="image69bc20852f549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Retailers face inaccurate per-item costs, currency volatility, and uncertainty setting competitive yet profitable prices.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Manual allocation of bulk shipping and delayed exchange updates create </a:t>
            </a:r>
            <a:r>
              <a:rPr lang="en-US" sz="2000" b="0" i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invisible losses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that erode margins and threaten business viability.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115910"/>
            <a:ext cx="3943081" cy="18886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ea typeface="Red Hat Mono"/>
                <a:cs typeface="Times New Roman" panose="02020603050405020304" pitchFamily="18" charset="0"/>
              </a:rPr>
              <a:t>Project Aim &amp; Objectives</a:t>
            </a:r>
            <a:endParaRPr lang="fr-FR" sz="26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0" y="668091"/>
            <a:ext cx="5087155" cy="38071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Aim: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Build an intelligent inventory orchestration system that automates landed-cost and recommends retail prices.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Objectives include real-time exchange integration, shipping allocation(by weight, quantity or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by value) ,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configurable price-suggestion logic, inventory tracking, and a secure admin dashboard.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52E8F-5A42-4A02-ADBB-33820E849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155" y="0"/>
            <a:ext cx="4136075" cy="51582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Deliver a working prototype with a web admin dashboard, a reliable landed-cost engine, and optional price-suggestion module.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Provide technical documentation and a user manual enabling administrators to manage inventory and maintain profitability.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/>
          <p:cNvSpPr/>
          <p:nvPr/>
        </p:nvSpPr>
        <p:spPr>
          <a:xfrm>
            <a:off x="5048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048280" y="1428839"/>
            <a:ext cx="4095720" cy="3363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Architecture.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Technology.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privacy.</a:t>
            </a: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image69bc208544d91" descr="image69bc208544d96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1227" y="1030014"/>
            <a:ext cx="4120055" cy="36370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architecture: </a:t>
            </a:r>
            <a:r>
              <a:rPr lang="en-US" sz="2000" b="0" i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backend, PostgreSQL (Supabase) database, and React Native frontend.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Design focuses on modular services for exchange-rate integration, costing engine, inventory module, and secure authentication using JWT.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image69bc20855599d" descr="image69bc2085559a2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76280" y="1187669"/>
            <a:ext cx="8191080" cy="34793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Core stack: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Python, FastAPI, React Native/Expo, PostgreSQL (Supabase), and VS Code.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via encrypted credentials and JWT; development on standard laptops and smartphones for testing and demos.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Privacy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6280" y="1082566"/>
            <a:ext cx="8191080" cy="35844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User credentials will be encrypted and access controlled with </a:t>
            </a:r>
            <a:r>
              <a:rPr lang="en-US" sz="2000" b="0" i="1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role-based profiles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Authentication uses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JWT tokens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chivo"/>
              </a:rPr>
              <a:t> and secure storage to protect financial data. Regular audits and data encryption ensure compliance and integrity.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/>
          <p:cNvSpPr/>
          <p:nvPr/>
        </p:nvSpPr>
        <p:spPr>
          <a:xfrm>
            <a:off x="476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76280" y="1428840"/>
            <a:ext cx="3619080" cy="30065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Landed Cost Logic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suggestion method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Allocation Method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5FBA19-F37D-47CE-80F1-05F36CD64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-94593"/>
            <a:ext cx="4792717" cy="52380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Landed Cost Logic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87614" y="1103586"/>
            <a:ext cx="4267200" cy="35634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Landed cost computed as: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(Foreign Price × Exchange Rate) + Shipping Share + Customs Duty + Import VAT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Engine supports weight- or quantity-based allocation to produce accurate per-item landed costs and prevent hidden losses.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65E03-0799-4110-B9D4-19B4B2E4D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87614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Price Suggestion Algorithm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6280" y="1229710"/>
            <a:ext cx="8191080" cy="3437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configurable suggestion: </a:t>
            </a:r>
            <a:r>
              <a:rPr lang="en-US" sz="2000" b="0" i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Suggested RP = Landed Cost × (1 + Profit Margin)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module recommends competitive prices while preventing below-breakeven listings and supports adjustable safety margins.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Inventory Allocation Method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6280" y="1145628"/>
            <a:ext cx="8191080" cy="35214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Inventory tracked by shipment batches with product registration, stock levels, and batch-based reporting.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Bulk shipping invoices are prorated to items using weight or quantity to maintain precise stock valuation.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/>
          <p:cNvSpPr/>
          <p:nvPr/>
        </p:nvSpPr>
        <p:spPr>
          <a:xfrm>
            <a:off x="5048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048280" y="1338054"/>
            <a:ext cx="3927554" cy="35530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timeline.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&amp; Mitigation.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&amp; Deliverables</a:t>
            </a: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defTabSz="914400">
              <a:lnSpc>
                <a:spcPct val="85000"/>
              </a:lnSpc>
              <a:buFontTx/>
              <a:buChar char="-"/>
              <a:tabLst>
                <a:tab pos="0" algn="l"/>
              </a:tabLst>
            </a:pPr>
            <a:endParaRPr lang="en-US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" name="image69bc208585c15" descr="image69bc208585c17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Timeline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4593" y="987972"/>
            <a:ext cx="8902262" cy="40780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Phases 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across 16 weeks: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Proposal……………………………………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Week 1-2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Design………………. </a:t>
            </a:r>
            <a:r>
              <a:rPr lang="en-US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Week 3-5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Development……………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6-10</a:t>
            </a:r>
            <a:endParaRPr lang="en-US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Midway Evaluation………………………..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 11</a:t>
            </a:r>
            <a:endParaRPr lang="en-US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Final Development…………… </a:t>
            </a:r>
            <a:r>
              <a:rPr lang="en-US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Week 12-13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Writing	……………………….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14-15</a:t>
            </a:r>
            <a:endParaRPr lang="en-US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Final Submission &amp; Presentation…………… </a:t>
            </a:r>
            <a:r>
              <a:rPr lang="en-US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Week 16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milestones: API integration, costing engine, UI dashboard, mid-evaluation, and final submission.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4691" y="72916"/>
            <a:ext cx="371448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ea typeface="Red Hat Mono"/>
                <a:cs typeface="Times New Roman" panose="02020603050405020304" pitchFamily="18" charset="0"/>
              </a:rPr>
              <a:t>Risk Analysis &amp; Mitigation</a:t>
            </a:r>
            <a:endParaRPr lang="fr-FR" sz="26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24691" y="822584"/>
            <a:ext cx="5579918" cy="37405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Primary risks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: 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- API downtime </a:t>
            </a:r>
          </a:p>
          <a:p>
            <a:pPr marL="571500" indent="-34290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data entry errors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</a:t>
            </a:r>
          </a:p>
          <a:p>
            <a:pPr marL="571500" indent="-34290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logic bugs.</a:t>
            </a:r>
            <a:endParaRPr lang="fr-FR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ea typeface="Archivo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Mitigations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: </a:t>
            </a:r>
          </a:p>
          <a:p>
            <a:pPr marL="571500" indent="-34290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caching of last known exchange rates(for API downtime)</a:t>
            </a:r>
          </a:p>
          <a:p>
            <a:pPr marL="571500" indent="-34290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input validation (for data entry errors)</a:t>
            </a: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rigorous unit testing of formulas.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(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logic errors)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208;p30" title="young-woman-wearing-white-clothes.jpg"/>
          <p:cNvSpPr/>
          <p:nvPr/>
        </p:nvSpPr>
        <p:spPr>
          <a:xfrm>
            <a:off x="5818908" y="0"/>
            <a:ext cx="3325091" cy="5143320"/>
          </a:xfrm>
          <a:prstGeom prst="roundRect">
            <a:avLst>
              <a:gd name="adj" fmla="val 19573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Demo &amp; Deliverables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6280" y="1061545"/>
            <a:ext cx="8191080" cy="36054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functional prototype, web admin dashboard, technical documentation, and user manual.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Demo will showcase real-time exchange updates, landed-cost calculations, and price-suggestion flows.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28599" y="0"/>
            <a:ext cx="371448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pitchFamily="18" charset="0"/>
                <a:ea typeface="Red Hat Mono"/>
                <a:cs typeface="Times New Roman" panose="02020603050405020304" pitchFamily="18" charset="0"/>
              </a:rPr>
              <a:t>Conclusions</a:t>
            </a:r>
            <a:endParaRPr lang="fr-FR" sz="26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24691" y="467591"/>
            <a:ext cx="4447309" cy="444712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Tranz-Algo delivers an end-to-end solution to eliminate </a:t>
            </a:r>
            <a:r>
              <a:rPr lang="en-US" sz="2000" b="0" i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invisible losses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for import-based retailers.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By combining real-time exchange integration, precise landed-cost math, and an optional price-suggestion engine, the system ensures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sustainable margins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</a:rPr>
              <a:t> and operational clarity.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39B2F0-B637-4549-939E-7EFDA4EB64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4"/>
          <a:stretch/>
        </p:blipFill>
        <p:spPr>
          <a:xfrm>
            <a:off x="4675908" y="0"/>
            <a:ext cx="4401417" cy="5143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88900" algn="tl" rotWithShape="0">
              <a:srgbClr val="000000">
                <a:alpha val="45000"/>
              </a:srgbClr>
            </a:outerShdw>
            <a:softEdge rad="31750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80553" y="91997"/>
            <a:ext cx="371448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5000"/>
              </a:lnSpc>
              <a:buNone/>
              <a:tabLst>
                <a:tab pos="0" algn="l"/>
              </a:tabLst>
            </a:pPr>
            <a:r>
              <a:rPr lang="fr-FR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fr-FR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000" b="0" u="none" strike="noStrike" dirty="0"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76645" y="987137"/>
            <a:ext cx="8790710" cy="356408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lvl="0"/>
            <a:r>
              <a:rPr lang="en-US" dirty="0"/>
              <a:t>R. S. Pressman and B. R. Maxim, </a:t>
            </a:r>
            <a:r>
              <a:rPr lang="en-US" i="1" dirty="0"/>
              <a:t>Software Engineering: A Practitioner's Approach</a:t>
            </a:r>
            <a:r>
              <a:rPr lang="en-US" dirty="0"/>
              <a:t>, 9th ed. McGraw-Hill, 2020.</a:t>
            </a:r>
          </a:p>
          <a:p>
            <a:pPr lvl="0"/>
            <a:r>
              <a:rPr lang="en-US" dirty="0"/>
              <a:t>B. </a:t>
            </a:r>
            <a:r>
              <a:rPr lang="en-US" dirty="0" err="1"/>
              <a:t>Lubanovic</a:t>
            </a:r>
            <a:r>
              <a:rPr lang="en-US" dirty="0"/>
              <a:t>, </a:t>
            </a:r>
            <a:r>
              <a:rPr lang="en-US" i="1" dirty="0"/>
              <a:t>Introducing Python: Modern Computing in Simple Packages</a:t>
            </a:r>
            <a:r>
              <a:rPr lang="en-US" dirty="0"/>
              <a:t>, 2nd ed. O'Reilly Media, 2019.</a:t>
            </a:r>
          </a:p>
          <a:p>
            <a:pPr lvl="0"/>
            <a:r>
              <a:rPr lang="en-US" dirty="0"/>
              <a:t>Mangan and C. </a:t>
            </a:r>
            <a:r>
              <a:rPr lang="en-US" dirty="0" err="1"/>
              <a:t>Lalwani</a:t>
            </a:r>
            <a:r>
              <a:rPr lang="en-US" dirty="0"/>
              <a:t>, </a:t>
            </a:r>
            <a:r>
              <a:rPr lang="en-US" i="1" dirty="0"/>
              <a:t>Global Logistics and Supply Chain Management</a:t>
            </a:r>
            <a:r>
              <a:rPr lang="en-US" dirty="0"/>
              <a:t>. John Wiley &amp; Sons, 2016.</a:t>
            </a:r>
          </a:p>
        </p:txBody>
      </p:sp>
    </p:spTree>
    <p:extLst>
      <p:ext uri="{BB962C8B-B14F-4D97-AF65-F5344CB8AC3E}">
        <p14:creationId xmlns:p14="http://schemas.microsoft.com/office/powerpoint/2010/main" val="3039742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026227" y="1953491"/>
            <a:ext cx="4888652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5000"/>
              </a:lnSpc>
              <a:buNone/>
              <a:tabLst>
                <a:tab pos="0" algn="l"/>
              </a:tabLst>
            </a:pPr>
            <a:r>
              <a:rPr lang="fr-FR" sz="5400" b="0" u="none" strike="noStrike" dirty="0">
                <a:solidFill>
                  <a:srgbClr val="00206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82165041"/>
      </p:ext>
    </p:extLst>
  </p:cSld>
  <p:clrMapOvr>
    <a:masterClrMapping/>
  </p:clrMapOvr>
</p:sld>
</file>

<file path=ppt/theme/theme1.xml><?xml version="1.0" encoding="utf-8"?>
<a:theme xmlns:a="http://schemas.openxmlformats.org/drawingml/2006/main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730</Words>
  <Application>Microsoft Office PowerPoint</Application>
  <PresentationFormat>On-screen Show (16:9)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Archivo</vt:lpstr>
      <vt:lpstr>Arial</vt:lpstr>
      <vt:lpstr>OpenSymbol</vt:lpstr>
      <vt:lpstr>Red Hat Mono</vt:lpstr>
      <vt:lpstr>Symbol</vt:lpstr>
      <vt:lpstr>Times New Roman</vt:lpstr>
      <vt:lpstr>VT323</vt:lpstr>
      <vt:lpstr>Wingdings</vt:lpstr>
      <vt:lpstr>Tech Trends 2026 by Slidesgo</vt:lpstr>
      <vt:lpstr>Slidesgo Final Pages</vt:lpstr>
      <vt:lpstr>Tranz-Algo</vt:lpstr>
      <vt:lpstr>Introduction</vt:lpstr>
      <vt:lpstr>PowerPoint Presentation</vt:lpstr>
      <vt:lpstr>PowerPoint Presentation</vt:lpstr>
      <vt:lpstr>Project Aim &amp;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Risk Analysis &amp; Mitigation</vt:lpstr>
      <vt:lpstr>PowerPoint Presentation</vt:lpstr>
      <vt:lpstr>Conclusions</vt:lpstr>
      <vt:lpstr>REFERENCES 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Tranz-Algo</dc:title>
  <dc:creator>Nixon Shibuchi</dc:creator>
  <cp:keywords>Project proposal</cp:keywords>
  <cp:lastModifiedBy>NIXON SHIBUCHI</cp:lastModifiedBy>
  <cp:revision>18</cp:revision>
  <dcterms:modified xsi:type="dcterms:W3CDTF">2026-03-27T11:44:17Z</dcterms:modified>
  <cp:category>school</cp:category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2026-03-19T16:12:42Z</dcterms:created>
  <dc:creator>Unknown Creator</dc:creator>
  <dc:description/>
  <dc:language>en-US</dc:language>
  <cp:lastModifiedBy>Unknown Creator</cp:lastModifiedBy>
  <dcterms:modified xsi:type="dcterms:W3CDTF">2026-03-19T16:12:42Z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